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rial Bold" panose="020B0704020202020204" pitchFamily="34" charset="0"/>
      <p:regular r:id="rId23"/>
      <p:bold r:id="rId24"/>
    </p:embeddedFont>
    <p:embeddedFont>
      <p:font typeface="Calibri (MS) Bold" panose="020B0604020202020204" charset="0"/>
      <p:regular r:id="rId25"/>
    </p:embeddedFont>
    <p:embeddedFont>
      <p:font typeface="Calibri (MS) Bold Italics" panose="020B0604020202020204" charset="0"/>
      <p:regular r:id="rId26"/>
    </p:embeddedFont>
    <p:embeddedFont>
      <p:font typeface="Times New Roman Bold" panose="02020803070505020304" pitchFamily="18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3" d="100"/>
          <a:sy n="33" d="100"/>
        </p:scale>
        <p:origin x="94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loni-mishra/golden-corridor-pollution-monito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7775" y="2564606"/>
            <a:ext cx="15773400" cy="4279106"/>
            <a:chOff x="0" y="0"/>
            <a:chExt cx="21031200" cy="5705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5705474"/>
            </a:xfrm>
            <a:custGeom>
              <a:avLst/>
              <a:gdLst/>
              <a:ahLst/>
              <a:cxnLst/>
              <a:rect l="l" t="t" r="r" b="b"/>
              <a:pathLst>
                <a:path w="21031200" h="5705474">
                  <a:moveTo>
                    <a:pt x="0" y="0"/>
                  </a:moveTo>
                  <a:lnTo>
                    <a:pt x="21031200" y="0"/>
                  </a:lnTo>
                  <a:lnTo>
                    <a:pt x="21031200" y="5705474"/>
                  </a:lnTo>
                  <a:lnTo>
                    <a:pt x="0" y="57054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824" b="-2182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1031200" cy="58007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0692"/>
                </a:lnSpc>
              </a:pPr>
              <a:r>
                <a:rPr lang="en-US" sz="99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University Engagement Project Submission</a:t>
              </a:r>
            </a:p>
            <a:p>
              <a:pPr algn="ctr">
                <a:lnSpc>
                  <a:spcPts val="10692"/>
                </a:lnSpc>
              </a:pPr>
              <a:endParaRPr lang="en-US" sz="99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13516" y="5882145"/>
            <a:ext cx="15590549" cy="217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 i="1">
                <a:solidFill>
                  <a:srgbClr val="88888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“Exploring the Power of Agentic AI with IBM Granite and LangFlow”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75015"/>
              </p:ext>
            </p:extLst>
          </p:nvPr>
        </p:nvGraphicFramePr>
        <p:xfrm>
          <a:off x="1948886" y="3900473"/>
          <a:ext cx="14058900" cy="3238500"/>
        </p:xfrm>
        <a:graphic>
          <a:graphicData uri="http://schemas.openxmlformats.org/drawingml/2006/table">
            <a:tbl>
              <a:tblPr/>
              <a:tblGrid>
                <a:gridCol w="3094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4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4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67160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 Name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Recent Passport Photo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lang="en-US" sz="1100"/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134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endParaRPr lang="en-US" sz="1100" dirty="0"/>
                    </a:p>
                  </a:txBody>
                  <a:tcPr marL="91450" marR="91450" marT="91450" marB="914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endParaRPr lang="en-US" sz="1100" dirty="0"/>
                    </a:p>
                  </a:txBody>
                  <a:tcPr marL="91450" marR="91450" marT="91450" marB="914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 dirty="0"/>
                    </a:p>
                  </a:txBody>
                  <a:tcPr marL="91450" marR="91450" marT="91450" marB="914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900685" y="2208228"/>
            <a:ext cx="1523750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Domain of  Project – Environmental Sustainability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00685" y="845096"/>
            <a:ext cx="1418888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Tile – Golden Corridor Industrial Pollution Monitor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1377" y="1990725"/>
            <a:ext cx="17266492" cy="7294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4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: Smart Industrial Pollution Monitoring for Golden Corridor (Vapi–Ankleswar) </a:t>
            </a:r>
          </a:p>
          <a:p>
            <a:pPr algn="l">
              <a:lnSpc>
                <a:spcPts val="2920"/>
              </a:lnSpc>
            </a:pPr>
            <a:endParaRPr lang="en-US" sz="2433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2920"/>
              </a:lnSpc>
            </a:pPr>
            <a:r>
              <a:rPr lang="en-US" sz="24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Challenge</a:t>
            </a:r>
            <a:r>
              <a:rPr lang="en-US" sz="24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l">
              <a:lnSpc>
                <a:spcPts val="2920"/>
              </a:lnSpc>
            </a:pPr>
            <a:r>
              <a:rPr lang="en-US" sz="24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industrial belt along Vapi, Ankleshwar, and Vatva faces significant air and water pollution from chemical and manufacturing units, with limited real-time monitoring and slow regulatory response to violations. </a:t>
            </a:r>
          </a:p>
          <a:p>
            <a:pPr algn="l">
              <a:lnSpc>
                <a:spcPts val="2920"/>
              </a:lnSpc>
            </a:pPr>
            <a:endParaRPr lang="en-US" sz="2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920"/>
              </a:lnSpc>
            </a:pPr>
            <a:r>
              <a:rPr lang="en-US" sz="24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Objective</a:t>
            </a:r>
            <a:r>
              <a:rPr lang="en-US" sz="24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l">
              <a:lnSpc>
                <a:spcPts val="2920"/>
              </a:lnSpc>
            </a:pPr>
            <a:r>
              <a:rPr lang="en-US" sz="24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.Develop an AI-powered real-time telemetry and escalation system that:</a:t>
            </a:r>
          </a:p>
          <a:p>
            <a:pPr algn="l">
              <a:lnSpc>
                <a:spcPts val="2920"/>
              </a:lnSpc>
            </a:pPr>
            <a:endParaRPr lang="en-US" sz="2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5368" lvl="1" indent="-262684" algn="l">
              <a:lnSpc>
                <a:spcPts val="2920"/>
              </a:lnSpc>
              <a:buFont typeface="Arial"/>
              <a:buChar char="•"/>
            </a:pPr>
            <a:r>
              <a:rPr lang="en-US" sz="24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Factory Grid Tracking:</a:t>
            </a:r>
            <a:r>
              <a:rPr lang="en-US" sz="24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Ingests live environmental streams across multiple industrial units. </a:t>
            </a:r>
          </a:p>
          <a:p>
            <a:pPr algn="l">
              <a:lnSpc>
                <a:spcPts val="2920"/>
              </a:lnSpc>
            </a:pPr>
            <a:endParaRPr lang="en-US" sz="2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5368" lvl="1" indent="-262684" algn="l">
              <a:lnSpc>
                <a:spcPts val="2920"/>
              </a:lnSpc>
              <a:buFont typeface="Arial"/>
              <a:buChar char="•"/>
            </a:pPr>
            <a:r>
              <a:rPr lang="en-US" sz="24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RAG-Based Compliance</a:t>
            </a:r>
            <a:r>
              <a:rPr lang="en-US" sz="24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Compares live metrics against GPCB/WHO safety standards. </a:t>
            </a:r>
          </a:p>
          <a:p>
            <a:pPr algn="l">
              <a:lnSpc>
                <a:spcPts val="2920"/>
              </a:lnSpc>
            </a:pPr>
            <a:endParaRPr lang="en-US" sz="2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5368" lvl="1" indent="-262684" algn="l">
              <a:lnSpc>
                <a:spcPts val="2920"/>
              </a:lnSpc>
              <a:buFont typeface="Arial"/>
              <a:buChar char="•"/>
            </a:pPr>
            <a:r>
              <a:rPr lang="en-US" sz="24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Autonomous Multi-Agent AI:</a:t>
            </a:r>
            <a:r>
              <a:rPr lang="en-US" sz="24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Uses specialized agents to calculate public health risk scores, log events in real time, and trigger automated regulatory notices. </a:t>
            </a:r>
          </a:p>
          <a:p>
            <a:pPr algn="l">
              <a:lnSpc>
                <a:spcPts val="2920"/>
              </a:lnSpc>
            </a:pPr>
            <a:endParaRPr lang="en-US" sz="2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5368" lvl="1" indent="-262684" algn="l">
              <a:lnSpc>
                <a:spcPts val="2920"/>
              </a:lnSpc>
              <a:buFont typeface="Arial"/>
              <a:buChar char="•"/>
            </a:pPr>
            <a:r>
              <a:rPr lang="en-US" sz="24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Interactive Simulation: </a:t>
            </a:r>
            <a:r>
              <a:rPr lang="en-US" sz="24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regulatory bodies to simulate toxic spikes and test rapid response workflows.</a:t>
            </a:r>
          </a:p>
          <a:p>
            <a:pPr algn="l">
              <a:lnSpc>
                <a:spcPts val="2920"/>
              </a:lnSpc>
            </a:pPr>
            <a:endParaRPr lang="en-US" sz="2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0382" lvl="1" indent="-220191" algn="l">
              <a:lnSpc>
                <a:spcPts val="2920"/>
              </a:lnSpc>
            </a:pPr>
            <a:endParaRPr lang="en-US" sz="2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0382" lvl="1" indent="-220191" algn="l">
              <a:lnSpc>
                <a:spcPts val="2920"/>
              </a:lnSpc>
            </a:pPr>
            <a:endParaRPr lang="en-US" sz="2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55548" y="1073277"/>
            <a:ext cx="10639044" cy="629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8494" y="1815508"/>
            <a:ext cx="17103503" cy="8222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0"/>
              </a:lnSpc>
            </a:pPr>
            <a:endParaRPr/>
          </a:p>
          <a:p>
            <a:pPr algn="l">
              <a:lnSpc>
                <a:spcPts val="2740"/>
              </a:lnSpc>
            </a:pPr>
            <a:r>
              <a:rPr lang="en-US" sz="228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Solution: Multi-agent industrial monitoring system </a:t>
            </a:r>
          </a:p>
          <a:p>
            <a:pPr algn="l">
              <a:lnSpc>
                <a:spcPts val="2740"/>
              </a:lnSpc>
            </a:pPr>
            <a:endParaRPr lang="en-US" sz="2283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93052" lvl="1" indent="-246526" algn="l">
              <a:lnSpc>
                <a:spcPts val="2740"/>
              </a:lnSpc>
              <a:buFont typeface="Arial"/>
              <a:buChar char="•"/>
            </a:pPr>
            <a:r>
              <a:rPr lang="en-US" sz="228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proposed solution is a multi-agent industrial monitoring system built </a:t>
            </a:r>
            <a:r>
              <a:rPr lang="en-US" sz="22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IBM Granite models and the IBM Bob Orchestration framework to provide continuous, real-time pollution tracking.</a:t>
            </a:r>
            <a:r>
              <a:rPr lang="en-US" sz="228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>
              <a:lnSpc>
                <a:spcPts val="2740"/>
              </a:lnSpc>
            </a:pPr>
            <a:endParaRPr lang="en-US" sz="2283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93052" lvl="1" indent="-246526" algn="l">
              <a:lnSpc>
                <a:spcPts val="2740"/>
              </a:lnSpc>
              <a:buFont typeface="Arial"/>
              <a:buChar char="•"/>
            </a:pPr>
            <a:r>
              <a:rPr lang="en-US" sz="228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Live Factory Grid: T</a:t>
            </a:r>
            <a:r>
              <a:rPr lang="en-US" sz="22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racks key metrics (AQI, PM2.5, SO₂, pH, COD) across 4 core units: Vapi Chemical Complex A, Vapi Pharma Unit B, Ankleshwar Dyes Unit 4, and Ankleshwar Specialty Chemicals C. </a:t>
            </a:r>
          </a:p>
          <a:p>
            <a:pPr algn="l">
              <a:lnSpc>
                <a:spcPts val="2740"/>
              </a:lnSpc>
            </a:pPr>
            <a:endParaRPr lang="en-US" sz="228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3052" lvl="1" indent="-246526" algn="l">
              <a:lnSpc>
                <a:spcPts val="2740"/>
              </a:lnSpc>
              <a:buFont typeface="Arial"/>
              <a:buChar char="•"/>
            </a:pPr>
            <a:r>
              <a:rPr lang="en-US" sz="228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Spatial Corridor Map: </a:t>
            </a:r>
            <a:r>
              <a:rPr lang="en-US" sz="22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Displays a ~130 km route schematic from Vapi to Ankleshwar, dynamically highlighting active node status (NORMAL, WARNING, CRITICAL, BREACH). </a:t>
            </a:r>
          </a:p>
          <a:p>
            <a:pPr algn="l">
              <a:lnSpc>
                <a:spcPts val="2740"/>
              </a:lnSpc>
            </a:pPr>
            <a:endParaRPr lang="en-US" sz="228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3052" lvl="1" indent="-246526" algn="l">
              <a:lnSpc>
                <a:spcPts val="2740"/>
              </a:lnSpc>
              <a:buFont typeface="Arial"/>
              <a:buChar char="•"/>
            </a:pPr>
            <a:r>
              <a:rPr lang="en-US" sz="228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Multi-Agent Pipeline:</a:t>
            </a:r>
          </a:p>
          <a:p>
            <a:pPr marL="493052" lvl="1" indent="-246526" algn="l">
              <a:lnSpc>
                <a:spcPts val="2740"/>
              </a:lnSpc>
              <a:buFont typeface="Arial"/>
              <a:buChar char="•"/>
            </a:pPr>
            <a:r>
              <a:rPr lang="en-US" sz="228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MonitoringAgent: </a:t>
            </a:r>
            <a:r>
              <a:rPr lang="en-US" sz="22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Scans telemetry streams every few seconds. </a:t>
            </a:r>
          </a:p>
          <a:p>
            <a:pPr algn="l">
              <a:lnSpc>
                <a:spcPts val="2740"/>
              </a:lnSpc>
            </a:pPr>
            <a:endParaRPr lang="en-US" sz="228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3052" lvl="1" indent="-246526" algn="l">
              <a:lnSpc>
                <a:spcPts val="2740"/>
              </a:lnSpc>
              <a:buFont typeface="Arial"/>
              <a:buChar char="•"/>
            </a:pPr>
            <a:r>
              <a:rPr lang="en-US" sz="228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ComplianceAgent:</a:t>
            </a:r>
            <a:r>
              <a:rPr lang="en-US" sz="22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Detects parameter breaches (e.g., AQI &gt; 100 on ANK-4). </a:t>
            </a:r>
          </a:p>
          <a:p>
            <a:pPr algn="l">
              <a:lnSpc>
                <a:spcPts val="2740"/>
              </a:lnSpc>
            </a:pPr>
            <a:endParaRPr lang="en-US" sz="228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3052" lvl="1" indent="-246526" algn="l">
              <a:lnSpc>
                <a:spcPts val="2740"/>
              </a:lnSpc>
              <a:buFont typeface="Arial"/>
              <a:buChar char="•"/>
            </a:pPr>
            <a:r>
              <a:rPr lang="en-US" sz="228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HealthRiskAgent: </a:t>
            </a:r>
            <a:r>
              <a:rPr lang="en-US" sz="22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Computes dynamic health risk scores (e.g., 18/100 LOW) and identifies primary risk drivers. </a:t>
            </a:r>
          </a:p>
          <a:p>
            <a:pPr algn="l">
              <a:lnSpc>
                <a:spcPts val="2740"/>
              </a:lnSpc>
            </a:pPr>
            <a:endParaRPr lang="en-US" sz="228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3052" lvl="1" indent="-246526" algn="l">
              <a:lnSpc>
                <a:spcPts val="2740"/>
              </a:lnSpc>
              <a:buFont typeface="Arial"/>
              <a:buChar char="•"/>
            </a:pPr>
            <a:r>
              <a:rPr lang="en-US" sz="228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Actionable Control Center: </a:t>
            </a:r>
            <a:r>
              <a:rPr lang="en-US" sz="228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interactive controls to simulate toxic spills, reset baselines, generate regulatory notices, and dispatch automated SMS/alerts to GPCB officials.</a:t>
            </a:r>
          </a:p>
          <a:p>
            <a:pPr algn="l">
              <a:lnSpc>
                <a:spcPts val="2740"/>
              </a:lnSpc>
            </a:pPr>
            <a:endParaRPr lang="en-US" sz="228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740"/>
              </a:lnSpc>
            </a:pPr>
            <a:endParaRPr lang="en-US" sz="228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740"/>
              </a:lnSpc>
            </a:pPr>
            <a:endParaRPr lang="en-US" sz="228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55548" y="1073277"/>
            <a:ext cx="10639044" cy="629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7300" y="744093"/>
            <a:ext cx="10501884" cy="629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64664" y="1758655"/>
            <a:ext cx="15590520" cy="943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 platform 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-For visually designing and orchestrating multi-agent workflows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Granite model 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(Granite-4.0-8B-Instruct): Powers core reasoning, multi-agent logic, threshold assessment, and risk summarization. 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IBM Cloud &amp; watsonx.ai: 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enterprise infrastructure, model deployment, embeddings, and AI governance</a:t>
            </a: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RAG Layer (Vector Database):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Stores WHO bylaws and GPCB regulatory compliance standards for accurate threshold verification. 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Bob Orchestrator: 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Manages agent flow execution, error handling, and terminal logging. 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6386" y="456286"/>
            <a:ext cx="8863394" cy="70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sz="3600" b="1">
                <a:solidFill>
                  <a:srgbClr val="051D3A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component Used -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6386" y="1445743"/>
            <a:ext cx="16769240" cy="8446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endParaRPr/>
          </a:p>
          <a:p>
            <a:pPr algn="l">
              <a:lnSpc>
                <a:spcPts val="3074"/>
              </a:lnSpc>
            </a:pPr>
            <a:r>
              <a:rPr lang="en-US" sz="256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1) Telemetry Data Input Component:</a:t>
            </a:r>
            <a:r>
              <a:rPr lang="en-US" sz="256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Ingests real-time air and water sensor payloads (AQI, PM2.5, SO₂, pH, COD). </a:t>
            </a: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r>
              <a:rPr lang="en-US" sz="256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2) IBM watsonx AI Agent </a:t>
            </a:r>
            <a:r>
              <a:rPr lang="en-US" sz="256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Processes telemetry vectors using Granite models to evaluate safety thresholds.</a:t>
            </a: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r>
              <a:rPr lang="en-US" sz="256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3) Name of IBM Granite model -</a:t>
            </a:r>
            <a:r>
              <a:rPr lang="en-US" sz="256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Granite-4.0-8B-Instruct (Fast, lightweight reasoning engine for real-time risk assessment)</a:t>
            </a:r>
          </a:p>
          <a:p>
            <a:pPr algn="l">
              <a:lnSpc>
                <a:spcPts val="3074"/>
              </a:lnSpc>
            </a:pPr>
            <a:r>
              <a:rPr lang="en-US" sz="256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4)  Terminal &amp; Notice Output Component: </a:t>
            </a:r>
            <a:r>
              <a:rPr lang="en-US" sz="256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Displays live agent logs in the Agent Terminal and generates formal regulatory notices. </a:t>
            </a: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r>
              <a:rPr lang="en-US" sz="256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5) File/RAG Database Component: </a:t>
            </a:r>
            <a:r>
              <a:rPr lang="en-US" sz="256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GPCB legal thresholds and historical factory baseline data. </a:t>
            </a: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endParaRPr lang="en-US" sz="256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74"/>
              </a:lnSpc>
            </a:pPr>
            <a:r>
              <a:rPr lang="en-US" sz="256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47806" y="376663"/>
            <a:ext cx="14567372" cy="9533673"/>
          </a:xfrm>
          <a:custGeom>
            <a:avLst/>
            <a:gdLst/>
            <a:ahLst/>
            <a:cxnLst/>
            <a:rect l="l" t="t" r="r" b="b"/>
            <a:pathLst>
              <a:path w="14567372" h="9533673">
                <a:moveTo>
                  <a:pt x="0" y="0"/>
                </a:moveTo>
                <a:lnTo>
                  <a:pt x="14567372" y="0"/>
                </a:lnTo>
                <a:lnTo>
                  <a:pt x="14567372" y="9533674"/>
                </a:lnTo>
                <a:lnTo>
                  <a:pt x="0" y="9533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6" t="-3897" b="-5218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0226" y="1098538"/>
            <a:ext cx="16695582" cy="9118918"/>
          </a:xfrm>
          <a:custGeom>
            <a:avLst/>
            <a:gdLst/>
            <a:ahLst/>
            <a:cxnLst/>
            <a:rect l="l" t="t" r="r" b="b"/>
            <a:pathLst>
              <a:path w="16695582" h="9118918">
                <a:moveTo>
                  <a:pt x="0" y="0"/>
                </a:moveTo>
                <a:lnTo>
                  <a:pt x="16695582" y="0"/>
                </a:lnTo>
                <a:lnTo>
                  <a:pt x="16695582" y="9118919"/>
                </a:lnTo>
                <a:lnTo>
                  <a:pt x="0" y="9118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30" b="-143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6386" y="418186"/>
            <a:ext cx="8863394" cy="73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Architecture blueprint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57979" y="1751238"/>
            <a:ext cx="4523013" cy="6784524"/>
            <a:chOff x="0" y="0"/>
            <a:chExt cx="6030684" cy="90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30722" cy="9046083"/>
            </a:xfrm>
            <a:custGeom>
              <a:avLst/>
              <a:gdLst/>
              <a:ahLst/>
              <a:cxnLst/>
              <a:rect l="l" t="t" r="r" b="b"/>
              <a:pathLst>
                <a:path w="6030722" h="9046083">
                  <a:moveTo>
                    <a:pt x="0" y="0"/>
                  </a:moveTo>
                  <a:lnTo>
                    <a:pt x="6030722" y="0"/>
                  </a:lnTo>
                  <a:lnTo>
                    <a:pt x="6030722" y="9046083"/>
                  </a:lnTo>
                  <a:lnTo>
                    <a:pt x="0" y="9046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04672" y="451866"/>
            <a:ext cx="13793724" cy="80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Role of Agentic AI in the solution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9811" y="1732188"/>
            <a:ext cx="12098168" cy="680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1715" lvl="1" indent="-320857" algn="l">
              <a:lnSpc>
                <a:spcPts val="3566"/>
              </a:lnSpc>
              <a:buFont typeface="Arial"/>
              <a:buChar char="•"/>
            </a:pPr>
            <a:r>
              <a:rPr lang="en-US" sz="297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Agentic AI elevates this platform from a passive monitoring dashboard into an autonomous, self-executing escalation system. </a:t>
            </a:r>
          </a:p>
          <a:p>
            <a:pPr marL="641715" lvl="1" indent="-320857" algn="l">
              <a:lnSpc>
                <a:spcPts val="3566"/>
              </a:lnSpc>
              <a:buFont typeface="Arial"/>
              <a:buChar char="•"/>
            </a:pPr>
            <a:r>
              <a:rPr lang="en-US" sz="297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Autonomous Task Execution: Agents run continuously without requiring human triggers to evaluate data cycles. </a:t>
            </a:r>
          </a:p>
          <a:p>
            <a:pPr marL="641715" lvl="1" indent="-320857" algn="l">
              <a:lnSpc>
                <a:spcPts val="3566"/>
              </a:lnSpc>
              <a:buFont typeface="Arial"/>
              <a:buChar char="•"/>
            </a:pPr>
            <a:r>
              <a:rPr lang="en-US" sz="297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Contextual Collaboration:</a:t>
            </a:r>
          </a:p>
          <a:p>
            <a:pPr marL="641715" lvl="1" indent="-320857" algn="l">
              <a:lnSpc>
                <a:spcPts val="3566"/>
              </a:lnSpc>
              <a:buFont typeface="Arial"/>
              <a:buChar char="•"/>
            </a:pPr>
            <a:r>
              <a:rPr lang="en-US" sz="297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MonitoringAgent scans 4 factories simultaneously. </a:t>
            </a:r>
          </a:p>
          <a:p>
            <a:pPr marL="641715" lvl="1" indent="-320857" algn="l">
              <a:lnSpc>
                <a:spcPts val="3566"/>
              </a:lnSpc>
              <a:buFont typeface="Arial"/>
              <a:buChar char="•"/>
            </a:pPr>
            <a:r>
              <a:rPr lang="en-US" sz="297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ComplianceAgent evaluates breaches against stored legal standards. </a:t>
            </a:r>
          </a:p>
          <a:p>
            <a:pPr marL="641715" lvl="1" indent="-320857" algn="l">
              <a:lnSpc>
                <a:spcPts val="3566"/>
              </a:lnSpc>
              <a:buFont typeface="Arial"/>
              <a:buChar char="•"/>
            </a:pPr>
            <a:r>
              <a:rPr lang="en-US" sz="297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HealthRiskAgent calculates overall population risk indices and logs structured updates. </a:t>
            </a:r>
          </a:p>
          <a:p>
            <a:pPr marL="641715" lvl="1" indent="-320857" algn="l">
              <a:lnSpc>
                <a:spcPts val="3566"/>
              </a:lnSpc>
              <a:buFont typeface="Arial"/>
              <a:buChar char="•"/>
            </a:pPr>
            <a:r>
              <a:rPr lang="en-US" sz="297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Proactive Protection: Automatically generates compliance notices and dispatches alerts the moment critical thresholds are crossed. </a:t>
            </a:r>
          </a:p>
          <a:p>
            <a:pPr algn="l">
              <a:lnSpc>
                <a:spcPts val="4431"/>
              </a:lnSpc>
            </a:pPr>
            <a:endParaRPr lang="en-US" sz="2972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89787" y="255165"/>
            <a:ext cx="9666742" cy="800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8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Usage 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8086" y="4830775"/>
            <a:ext cx="11202829" cy="135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8086" y="6383645"/>
            <a:ext cx="11202829" cy="135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28086" y="7936516"/>
            <a:ext cx="11202829" cy="78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1364" y="3680384"/>
            <a:ext cx="7643812" cy="4286250"/>
            <a:chOff x="0" y="0"/>
            <a:chExt cx="10191750" cy="571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91750" cy="5715000"/>
            </a:xfrm>
            <a:custGeom>
              <a:avLst/>
              <a:gdLst/>
              <a:ahLst/>
              <a:cxnLst/>
              <a:rect l="l" t="t" r="r" b="b"/>
              <a:pathLst>
                <a:path w="10191750" h="5715000">
                  <a:moveTo>
                    <a:pt x="0" y="0"/>
                  </a:moveTo>
                  <a:lnTo>
                    <a:pt x="10191750" y="0"/>
                  </a:lnTo>
                  <a:lnTo>
                    <a:pt x="1019175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63" b="-206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239402" y="3676774"/>
            <a:ext cx="8586788" cy="4286250"/>
            <a:chOff x="0" y="0"/>
            <a:chExt cx="11449050" cy="571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49050" cy="5715000"/>
            </a:xfrm>
            <a:custGeom>
              <a:avLst/>
              <a:gdLst/>
              <a:ahLst/>
              <a:cxnLst/>
              <a:rect l="l" t="t" r="r" b="b"/>
              <a:pathLst>
                <a:path w="11449050" h="5715000">
                  <a:moveTo>
                    <a:pt x="0" y="0"/>
                  </a:moveTo>
                  <a:lnTo>
                    <a:pt x="11449050" y="0"/>
                  </a:lnTo>
                  <a:lnTo>
                    <a:pt x="1144905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5852" b="-6585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009394" y="2603773"/>
            <a:ext cx="39319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Prompt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51687" y="2611050"/>
            <a:ext cx="39319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the Prompt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C0267D-1C29-1F41-ADAA-640804E5A62D}"/>
              </a:ext>
            </a:extLst>
          </p:cNvPr>
          <p:cNvSpPr txBox="1"/>
          <p:nvPr/>
        </p:nvSpPr>
        <p:spPr>
          <a:xfrm>
            <a:off x="1533832" y="1342103"/>
            <a:ext cx="3945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12400 tokens are used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8959" y="696977"/>
            <a:ext cx="10501884" cy="629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Novelty and Uniqueness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6323" y="1554484"/>
            <a:ext cx="17767325" cy="489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467" lvl="1" indent="-320234" algn="l">
              <a:lnSpc>
                <a:spcPts val="3559"/>
              </a:lnSpc>
              <a:buFont typeface="Arial"/>
              <a:buChar char="•"/>
            </a:pPr>
            <a:r>
              <a:rPr lang="en-US" sz="296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Multi-Agent Governance:</a:t>
            </a:r>
            <a:r>
              <a:rPr lang="en-US" sz="29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Replaces static charts with active agents that continuously evaluate compliance. </a:t>
            </a:r>
          </a:p>
          <a:p>
            <a:pPr algn="l">
              <a:lnSpc>
                <a:spcPts val="3559"/>
              </a:lnSpc>
            </a:pPr>
            <a:endParaRPr lang="en-US" sz="29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0467" lvl="1" indent="-320234" algn="l">
              <a:lnSpc>
                <a:spcPts val="3559"/>
              </a:lnSpc>
              <a:buFont typeface="Arial"/>
              <a:buChar char="•"/>
            </a:pPr>
            <a:r>
              <a:rPr lang="en-US" sz="296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RAG-Backed Accuracy:</a:t>
            </a:r>
            <a:r>
              <a:rPr lang="en-US" sz="29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Cross-references factory emissions with official GPCB and WHO legal limits to reduce false alarms. </a:t>
            </a:r>
          </a:p>
          <a:p>
            <a:pPr algn="l">
              <a:lnSpc>
                <a:spcPts val="3559"/>
              </a:lnSpc>
            </a:pPr>
            <a:endParaRPr lang="en-US" sz="29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0467" lvl="1" indent="-320234" algn="l">
              <a:lnSpc>
                <a:spcPts val="3559"/>
              </a:lnSpc>
              <a:buFont typeface="Arial"/>
              <a:buChar char="•"/>
            </a:pPr>
            <a:r>
              <a:rPr lang="en-US" sz="296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Interactive Disaster Simulation: </a:t>
            </a:r>
            <a:r>
              <a:rPr lang="en-US" sz="29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environmental officers to run stress tests using the "Simulate Toxic Spill" module. </a:t>
            </a:r>
          </a:p>
          <a:p>
            <a:pPr algn="l">
              <a:lnSpc>
                <a:spcPts val="3559"/>
              </a:lnSpc>
            </a:pPr>
            <a:endParaRPr lang="en-US" sz="29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0467" lvl="1" indent="-320234" algn="l">
              <a:lnSpc>
                <a:spcPts val="3559"/>
              </a:lnSpc>
              <a:buFont typeface="Arial"/>
              <a:buChar char="•"/>
            </a:pPr>
            <a:r>
              <a:rPr lang="en-US" sz="296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Transparent Terminal Logging:</a:t>
            </a:r>
            <a:r>
              <a:rPr lang="en-US" sz="29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Full agent transparency through the CLI Agent Terminal log.</a:t>
            </a:r>
          </a:p>
          <a:p>
            <a:pPr algn="l">
              <a:lnSpc>
                <a:spcPts val="3432"/>
              </a:lnSpc>
            </a:pPr>
            <a:endParaRPr lang="en-US" sz="29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8086" y="373923"/>
            <a:ext cx="9666742" cy="511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8"/>
              </a:lnSpc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Git Hub Link</a:t>
            </a:r>
          </a:p>
          <a:p>
            <a:pPr>
              <a:lnSpc>
                <a:spcPts val="6788"/>
              </a:lnSpc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3"/>
              </a:rPr>
              <a:t>https://github.com/saloni-mishra/golden-corridor-pollution-monitor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6788"/>
              </a:lnSpc>
            </a:pP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6788"/>
              </a:lnSpc>
            </a:pP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6788"/>
              </a:lnSpc>
            </a:pP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28086" y="4830775"/>
            <a:ext cx="11202829" cy="622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8086" y="6383645"/>
            <a:ext cx="11202829" cy="135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28086" y="7936516"/>
            <a:ext cx="11202829" cy="78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3077019" h="5796522">
                <a:moveTo>
                  <a:pt x="0" y="0"/>
                </a:moveTo>
                <a:lnTo>
                  <a:pt x="13077018" y="0"/>
                </a:lnTo>
                <a:lnTo>
                  <a:pt x="13077018" y="5796522"/>
                </a:lnTo>
                <a:lnTo>
                  <a:pt x="0" y="5796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3084230" h="5061962">
                <a:moveTo>
                  <a:pt x="0" y="0"/>
                </a:moveTo>
                <a:lnTo>
                  <a:pt x="13084230" y="0"/>
                </a:lnTo>
                <a:lnTo>
                  <a:pt x="13084230" y="5061962"/>
                </a:lnTo>
                <a:lnTo>
                  <a:pt x="0" y="5061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3084230" h="5061962">
                <a:moveTo>
                  <a:pt x="0" y="0"/>
                </a:moveTo>
                <a:lnTo>
                  <a:pt x="13084230" y="0"/>
                </a:lnTo>
                <a:lnTo>
                  <a:pt x="13084230" y="5061962"/>
                </a:lnTo>
                <a:lnTo>
                  <a:pt x="0" y="5061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3084230" h="5887904">
                <a:moveTo>
                  <a:pt x="0" y="0"/>
                </a:moveTo>
                <a:lnTo>
                  <a:pt x="13084230" y="0"/>
                </a:lnTo>
                <a:lnTo>
                  <a:pt x="13084230" y="5887904"/>
                </a:lnTo>
                <a:lnTo>
                  <a:pt x="0" y="588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2690" y="243511"/>
            <a:ext cx="9666742" cy="1313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8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Scope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8086" y="4830775"/>
            <a:ext cx="11202829" cy="135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80969" y="6650638"/>
            <a:ext cx="11202829" cy="135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1524" y="1208519"/>
            <a:ext cx="17014116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87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Hardware Stack Sensor Integration:</a:t>
            </a:r>
            <a:r>
              <a:rPr lang="en-US" sz="278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 integration with chimney hardware sensors (ESP32 /                   MQ135) for direct telemetry streaming. </a:t>
            </a:r>
          </a:p>
          <a:p>
            <a:pPr marL="457200" indent="-457200" algn="ctr">
              <a:lnSpc>
                <a:spcPts val="33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78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457200">
              <a:lnSpc>
                <a:spcPts val="33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87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Predictive Plume Modeling: </a:t>
            </a:r>
            <a:r>
              <a:rPr lang="en-US" sz="278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Incorporate wind vector and meteorological data to predict toxic plume dispersion along the corridor. </a:t>
            </a:r>
          </a:p>
          <a:p>
            <a:pPr marL="457200" indent="-457200" algn="ctr">
              <a:lnSpc>
                <a:spcPts val="33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78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457200">
              <a:lnSpc>
                <a:spcPts val="334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787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Automated Legal Escalation: </a:t>
            </a:r>
            <a:r>
              <a:rPr lang="en-US" sz="278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drafting and digital signature of legal notices directly sent to non-compliant factory management.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83368" y="328212"/>
            <a:ext cx="8961120" cy="95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Certificates Earned:</a:t>
            </a:r>
          </a:p>
          <a:p>
            <a:pPr algn="ctr">
              <a:lnSpc>
                <a:spcPts val="4320"/>
              </a:lnSpc>
            </a:pPr>
            <a:endParaRPr lang="en-US" sz="36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56483" y="356730"/>
            <a:ext cx="8961120" cy="95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Certificates Earned: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</a:p>
          <a:p>
            <a:pPr algn="ctr">
              <a:lnSpc>
                <a:spcPts val="4320"/>
              </a:lnSpc>
            </a:pPr>
            <a:endParaRPr lang="en-US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85449"/>
            <a:ext cx="18288000" cy="3716093"/>
            <a:chOff x="0" y="0"/>
            <a:chExt cx="24384000" cy="49547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4954778"/>
            </a:xfrm>
            <a:custGeom>
              <a:avLst/>
              <a:gdLst/>
              <a:ahLst/>
              <a:cxnLst/>
              <a:rect l="l" t="t" r="r" b="b"/>
              <a:pathLst>
                <a:path w="24384000" h="4954778">
                  <a:moveTo>
                    <a:pt x="0" y="0"/>
                  </a:moveTo>
                  <a:lnTo>
                    <a:pt x="24384000" y="0"/>
                  </a:lnTo>
                  <a:lnTo>
                    <a:pt x="24384000" y="4954778"/>
                  </a:lnTo>
                  <a:lnTo>
                    <a:pt x="0" y="4954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848</Words>
  <Application>Microsoft Office PowerPoint</Application>
  <PresentationFormat>Custom</PresentationFormat>
  <Paragraphs>150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Calibri (MS) Bold</vt:lpstr>
      <vt:lpstr>Arial Bold</vt:lpstr>
      <vt:lpstr>Calibri (MS) Bold Italics</vt:lpstr>
      <vt:lpstr>Times New Roman</vt:lpstr>
      <vt:lpstr>Calibri</vt:lpstr>
      <vt:lpstr>Arial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9--Adv GLE_Langflow_Project Submission Template for EduentFoundation_IBMUniversityEngagement (1).pptx</dc:title>
  <cp:lastModifiedBy>ALOK MISHRA</cp:lastModifiedBy>
  <cp:revision>3</cp:revision>
  <dcterms:created xsi:type="dcterms:W3CDTF">2006-08-16T00:00:00Z</dcterms:created>
  <dcterms:modified xsi:type="dcterms:W3CDTF">2026-09-13T10:32:39Z</dcterms:modified>
  <dc:identifier>DAHVDyRZz-A</dc:identifier>
</cp:coreProperties>
</file>